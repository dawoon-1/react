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Pretendard ExtraBold"/>
      <p:bold r:id="rId18"/>
    </p:embeddedFont>
    <p:embeddedFont>
      <p:font typeface="Pretendard Bold"/>
      <p:bold r:id="rId19"/>
    </p:embeddedFont>
    <p:embeddedFont>
      <p:font typeface="Poppins Bold"/>
      <p:bold r:id="rId20"/>
    </p:embeddedFont>
    <p:embeddedFont>
      <p:font typeface="Pretendard Thin"/>
      <p:regular r:id="rId21"/>
    </p:embeddedFont>
    <p:embeddedFont>
      <p:font typeface="Pretendard Medium"/>
      <p:bold r:id="rId22"/>
    </p:embeddedFont>
    <p:embeddedFont>
      <p:font typeface="Pretendard Regular"/>
      <p:regular r:id="rId23"/>
    </p:embeddedFont>
    <p:embeddedFont>
      <p:font typeface="Anek Tamil Expanded SemiBold"/>
      <p:bold r:id="rId24"/>
    </p:embeddedFont>
    <p:embeddedFont>
      <p:font typeface="Pretendard SemiBold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23" Target="fonts/font6.fntdata" Type="http://schemas.openxmlformats.org/officeDocument/2006/relationships/font"/><Relationship Id="rId24" Target="fonts/font7.fntdata" Type="http://schemas.openxmlformats.org/officeDocument/2006/relationships/font"/><Relationship Id="rId25" Target="fonts/font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3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30.png" Type="http://schemas.openxmlformats.org/officeDocument/2006/relationships/image"/><Relationship Id="rId6" Target="../media/image41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4pxwO8FBT0.mp4" Type="http://schemas.microsoft.com/office/2007/relationships/media"/><Relationship Id="rId4" Target="../media/4pxwO8FBT0.mp4" Type="http://schemas.openxmlformats.org/officeDocument/2006/relationships/video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06500"/>
            <a:ext cx="3048000" cy="812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743200" y="2705100"/>
            <a:ext cx="15024100" cy="1803400"/>
          </a:xfrm>
          <a:prstGeom prst="rect">
            <a:avLst/>
          </a:prstGeom>
        </p:spPr>
        <p:txBody>
          <a:bodyPr anchor="t" rtlCol="false" lIns="0" tIns="59266" rIns="0" bIns="0"/>
          <a:lstStyle/>
          <a:p>
            <a:pPr algn="l" lvl="0">
              <a:lnSpc>
                <a:spcPct val="107899"/>
              </a:lnSpc>
            </a:pPr>
            <a:r>
              <a:rPr lang="en-US" sz="10168" b="false" i="false" u="none" strike="noStrike" spc="-305">
                <a:solidFill>
                  <a:srgbClr val="1A1A1A"/>
                </a:solidFill>
                <a:latin typeface="Pretendard ExtraBold"/>
              </a:rPr>
              <a:t>React  </a:t>
            </a:r>
            <a:r>
              <a:rPr lang="ko-KR" sz="10168" b="false" i="false" u="none" strike="noStrike" spc="-305">
                <a:solidFill>
                  <a:srgbClr val="1A1A1A"/>
                </a:solidFill>
                <a:ea typeface="Pretendard ExtraBold"/>
              </a:rPr>
              <a:t>인테리어</a:t>
            </a:r>
            <a:r>
              <a:rPr lang="en-US" sz="10168" b="false" i="false" u="none" strike="noStrike" spc="-305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10168" b="false" i="false" u="none" strike="noStrike" spc="-305">
                <a:solidFill>
                  <a:srgbClr val="1A1A1A"/>
                </a:solidFill>
                <a:ea typeface="Pretendard ExtraBold"/>
              </a:rPr>
              <a:t>룸</a:t>
            </a:r>
            <a:r>
              <a:rPr lang="en-US" sz="10168" b="false" i="false" u="none" strike="noStrike" spc="-305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10168" b="false" i="false" u="none" strike="noStrike" spc="-305">
                <a:solidFill>
                  <a:srgbClr val="1A1A1A"/>
                </a:solidFill>
                <a:ea typeface="Pretendard ExtraBold"/>
              </a:rPr>
              <a:t>에디터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32100" y="10287000"/>
            <a:ext cx="6337300" cy="1079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072" b="false" i="false" u="none" strike="noStrike">
                <a:solidFill>
                  <a:srgbClr val="000000"/>
                </a:solidFill>
                <a:latin typeface="Pretendard Bold"/>
              </a:rPr>
              <a:t>22360020 </a:t>
            </a:r>
            <a:r>
              <a:rPr lang="ko-KR" sz="6072" b="false" i="false" u="none" strike="noStrike">
                <a:solidFill>
                  <a:srgbClr val="000000"/>
                </a:solidFill>
                <a:ea typeface="Pretendard Bold"/>
              </a:rPr>
              <a:t>박다운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08100" y="6362700"/>
          <a:ext cx="22034500" cy="4292600"/>
        </p:xfrm>
        <a:graphic>
          <a:graphicData uri="http://schemas.openxmlformats.org/drawingml/2006/table">
            <a:tbl>
              <a:tblPr/>
              <a:tblGrid>
                <a:gridCol w="1546510"/>
                <a:gridCol w="6125173"/>
                <a:gridCol w="1453230"/>
                <a:gridCol w="6204133"/>
                <a:gridCol w="1423821"/>
                <a:gridCol w="5278120"/>
              </a:tblGrid>
              <a:tr h="218450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프로젝트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소개</a:t>
                      </a:r>
                      <a:endParaRPr lang="en-US" sz="1100"/>
                    </a:p>
                    <a:p>
                      <a:pPr algn="l" lvl="0">
                        <a:lnSpc>
                          <a:spcPct val="11619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-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개발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목적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,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주요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특징</a:t>
                      </a:r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전체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구조</a:t>
                      </a:r>
                      <a:endParaRPr lang="en-US" sz="1100"/>
                    </a:p>
                    <a:p>
                      <a:pPr algn="l" lvl="0">
                        <a:lnSpc>
                          <a:spcPct val="11619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-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주요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컴포넌트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Thin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Thin"/>
                        </a:rPr>
                        <a:t>구성</a:t>
                      </a:r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React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핵심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기능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 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1121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주요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기능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상태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관리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 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73200" y="1447800"/>
            <a:ext cx="4610100" cy="10668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CONTENTS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89100" y="10083800"/>
          <a:ext cx="1816100" cy="1968500"/>
        </p:xfrm>
        <a:graphic>
          <a:graphicData uri="http://schemas.openxmlformats.org/drawingml/2006/table">
            <a:tbl>
              <a:tblPr/>
              <a:tblGrid>
                <a:gridCol w="1818768"/>
              </a:tblGrid>
              <a:tr h="196546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09700" y="10502900"/>
          <a:ext cx="1549400" cy="2108200"/>
        </p:xfrm>
        <a:graphic>
          <a:graphicData uri="http://schemas.openxmlformats.org/drawingml/2006/table">
            <a:tbl>
              <a:tblPr/>
              <a:tblGrid>
                <a:gridCol w="1546510"/>
              </a:tblGrid>
              <a:tr h="21121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7907000" y="8509000"/>
          <a:ext cx="6121400" cy="2108200"/>
        </p:xfrm>
        <a:graphic>
          <a:graphicData uri="http://schemas.openxmlformats.org/drawingml/2006/table">
            <a:tbl>
              <a:tblPr/>
              <a:tblGrid>
                <a:gridCol w="6125173"/>
              </a:tblGrid>
              <a:tr h="21121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502900" y="10312400"/>
          <a:ext cx="6121400" cy="2108200"/>
        </p:xfrm>
        <a:graphic>
          <a:graphicData uri="http://schemas.openxmlformats.org/drawingml/2006/table">
            <a:tbl>
              <a:tblPr/>
              <a:tblGrid>
                <a:gridCol w="6125173"/>
              </a:tblGrid>
              <a:tr h="21121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기술적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특징</a:t>
                      </a:r>
                      <a:r>
                        <a:rPr lang="en-US" sz="3333" b="false" i="false" u="none" strike="noStrike">
                          <a:solidFill>
                            <a:srgbClr val="1A1A1A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3333" b="false" i="false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요약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953500" y="10464800"/>
          <a:ext cx="1549400" cy="2108200"/>
        </p:xfrm>
        <a:graphic>
          <a:graphicData uri="http://schemas.openxmlformats.org/drawingml/2006/table">
            <a:tbl>
              <a:tblPr/>
              <a:tblGrid>
                <a:gridCol w="1546510"/>
              </a:tblGrid>
              <a:tr h="21121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" sz="5999" b="false" i="false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08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730500" y="11176000"/>
            <a:ext cx="2921000" cy="609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주요</a:t>
            </a:r>
            <a:r>
              <a:rPr lang="en-US" sz="345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345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요약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4600" y="9258300"/>
            <a:ext cx="4279900" cy="609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457" b="false" i="false" u="none" strike="noStrike">
                <a:solidFill>
                  <a:srgbClr val="000000"/>
                </a:solidFill>
                <a:latin typeface="Pretendard Bold"/>
              </a:rPr>
              <a:t> UI</a:t>
            </a: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랑</a:t>
            </a:r>
            <a:r>
              <a:rPr lang="en-US" sz="3457" b="false" i="false" u="none" strike="noStrike">
                <a:solidFill>
                  <a:srgbClr val="000000"/>
                </a:solidFill>
                <a:latin typeface="Pretendard Bold"/>
              </a:rPr>
              <a:t> UX </a:t>
            </a: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설계</a:t>
            </a:r>
            <a:r>
              <a:rPr lang="en-US" sz="345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457" b="false" i="false" u="none" strike="noStrike">
                <a:solidFill>
                  <a:srgbClr val="000000"/>
                </a:solidFill>
                <a:ea typeface="Pretendard Bold"/>
              </a:rPr>
              <a:t>포인트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724900" y="7391400"/>
            <a:ext cx="69469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3517900"/>
            <a:ext cx="3822700" cy="812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616200" y="1257300"/>
            <a:ext cx="5041900" cy="11430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프로젝트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소개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2400" y="1193800"/>
            <a:ext cx="1168400" cy="10668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000" y="3581400"/>
            <a:ext cx="10426700" cy="6324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개발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목적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
-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사용자가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직접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방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크기를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설정</a:t>
            </a:r>
          </a:p>
          <a:p>
            <a:pPr algn="l" lvl="0">
              <a:lnSpc>
                <a:spcPct val="116199"/>
              </a:lnSpc>
            </a:pP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
-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침대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책상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옷장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등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가구를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</a:p>
          <a:p>
            <a:pPr algn="l" lvl="0">
              <a:lnSpc>
                <a:spcPct val="116199"/>
              </a:lnSpc>
            </a:pP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
-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회전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·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크기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·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색상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·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위치를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자유롭게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편집할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수</a:t>
            </a:r>
          </a:p>
          <a:p>
            <a:pPr algn="l" lvl="0">
              <a:lnSpc>
                <a:spcPct val="116199"/>
              </a:lnSpc>
            </a:pP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   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있는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웹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기반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인테리어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도구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447" b="false" i="false" u="none" strike="noStrike">
                <a:solidFill>
                  <a:srgbClr val="000000"/>
                </a:solidFill>
                <a:ea typeface="Pretendard Bold"/>
              </a:rPr>
              <a:t>제작</a:t>
            </a:r>
            <a:r>
              <a:rPr lang="en-US" sz="4447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100800" y="3225800"/>
            <a:ext cx="3822700" cy="812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0662900" y="3289300"/>
            <a:ext cx="21336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4200" b="false" i="false" u="none" strike="noStrike">
                <a:solidFill>
                  <a:srgbClr val="000000"/>
                </a:solidFill>
                <a:ea typeface="Pretendard Bold"/>
              </a:rPr>
              <a:t>주요</a:t>
            </a:r>
            <a:r>
              <a:rPr lang="en-US" sz="42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0000"/>
                </a:solidFill>
                <a:ea typeface="Pretendard Bold"/>
              </a:rPr>
              <a:t>특징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7000" y="5003800"/>
            <a:ext cx="9029700" cy="5194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-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드래그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앤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드롭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기반의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직관적인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
-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선택한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가구의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속성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실시간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조정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
-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방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크기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조정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
- localStorage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로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자동</a:t>
            </a:r>
            <a:r>
              <a:rPr lang="en-US" sz="416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169" b="false" i="false" u="none" strike="noStrike">
                <a:solidFill>
                  <a:srgbClr val="000000"/>
                </a:solidFill>
                <a:ea typeface="Pretendard Bold"/>
              </a:rPr>
              <a:t>저장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6781800"/>
            <a:ext cx="6375400" cy="2438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09000" y="6019800"/>
            <a:ext cx="7531100" cy="203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68600" y="6654800"/>
            <a:ext cx="5880100" cy="262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68700" y="8940800"/>
            <a:ext cx="6781800" cy="237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88500" y="7823200"/>
            <a:ext cx="5689600" cy="292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897100" y="9131300"/>
            <a:ext cx="6197600" cy="205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10800000">
            <a:off x="2514600" y="5118100"/>
            <a:ext cx="191770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22400" y="1193800"/>
            <a:ext cx="1422400" cy="14986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0" y="3746500"/>
            <a:ext cx="9563100" cy="660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733" b="false" i="false" u="none" strike="noStrike" spc="-112">
                <a:solidFill>
                  <a:srgbClr val="1A1A1A"/>
                </a:solidFill>
                <a:ea typeface="Pretendard Medium"/>
              </a:rPr>
              <a:t>주요</a:t>
            </a:r>
            <a:r>
              <a:rPr lang="en-US" sz="3733" b="false" i="false" u="none" strike="noStrike" spc="-112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3733" b="false" i="false" u="none" strike="noStrike" spc="-112">
                <a:solidFill>
                  <a:srgbClr val="1A1A1A"/>
                </a:solidFill>
                <a:ea typeface="Pretendard Medium"/>
              </a:rPr>
              <a:t>컴포넌트</a:t>
            </a:r>
            <a:r>
              <a:rPr lang="en-US" sz="3733" b="false" i="false" u="none" strike="noStrike" spc="-112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3733" b="false" i="false" u="none" strike="noStrike" spc="-112">
                <a:solidFill>
                  <a:srgbClr val="1A1A1A"/>
                </a:solidFill>
                <a:ea typeface="Pretendard Medium"/>
              </a:rPr>
              <a:t>구성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100" y="7048500"/>
            <a:ext cx="33655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787878"/>
                </a:solidFill>
                <a:latin typeface="Pretendard ExtraBold"/>
              </a:rPr>
              <a:t>App.jsx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6600" y="6096000"/>
            <a:ext cx="48133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FFFFFF"/>
                </a:solidFill>
                <a:latin typeface="Pretendard ExtraBold"/>
              </a:rPr>
              <a:t>Toolbar.jsx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6900" y="7010400"/>
            <a:ext cx="50800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787878"/>
                </a:solidFill>
                <a:latin typeface="Pretendard ExtraBold"/>
              </a:rPr>
              <a:t>RoomCanvas.jsx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1200" y="9042400"/>
            <a:ext cx="48133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FFFFFF"/>
                </a:solidFill>
                <a:latin typeface="Pretendard ExtraBold"/>
              </a:rPr>
              <a:t>FurnitureItem.jsx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0300" y="8178800"/>
            <a:ext cx="4864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787878"/>
                </a:solidFill>
                <a:latin typeface="Pretendard ExtraBold"/>
              </a:rPr>
              <a:t>PropertyPanel.jsx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59100" y="9271000"/>
            <a:ext cx="4737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 spc="-120">
                <a:solidFill>
                  <a:srgbClr val="787878"/>
                </a:solidFill>
                <a:latin typeface="Pretendard ExtraBold"/>
              </a:rPr>
              <a:t>furniturePresets.js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6200" y="1257300"/>
            <a:ext cx="5994400" cy="11176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전체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구조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16200" y="7962900"/>
            <a:ext cx="6438900" cy="939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전체</a:t>
            </a:r>
            <a:r>
              <a:rPr lang="en-US" sz="26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상태</a:t>
            </a:r>
            <a:r>
              <a:rPr lang="en-US" sz="26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관리</a:t>
            </a:r>
            <a:r>
              <a:rPr lang="en-US" sz="2633" b="false" i="false" u="none" strike="noStrike">
                <a:solidFill>
                  <a:srgbClr val="000000"/>
                </a:solidFill>
                <a:latin typeface="Pretendard Thin"/>
              </a:rPr>
              <a:t> (items, roomSize, selectedId)</a:t>
            </a:r>
          </a:p>
          <a:p>
            <a:pPr algn="ctr" lvl="0">
              <a:lnSpc>
                <a:spcPct val="116199"/>
              </a:lnSpc>
            </a:pP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데이터</a:t>
            </a:r>
            <a:r>
              <a:rPr lang="en-US" sz="26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저장</a:t>
            </a:r>
            <a:r>
              <a:rPr lang="en-US" sz="2633" b="false" i="false" u="none" strike="noStrike">
                <a:solidFill>
                  <a:srgbClr val="000000"/>
                </a:solidFill>
                <a:latin typeface="Pretendard Thin"/>
              </a:rPr>
              <a:t>/</a:t>
            </a:r>
            <a:r>
              <a:rPr lang="ko-KR" sz="2633" b="false" i="false" u="none" strike="noStrike">
                <a:solidFill>
                  <a:srgbClr val="000000"/>
                </a:solidFill>
                <a:ea typeface="Pretendard Thin"/>
              </a:rPr>
              <a:t>불러오기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80500" y="7086600"/>
            <a:ext cx="6565900" cy="546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가구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추가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버튼들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 (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침대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/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책상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/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의자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/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옷장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3073" b="false" i="false" u="none" strike="noStrike">
                <a:solidFill>
                  <a:srgbClr val="FFFFFF"/>
                </a:solidFill>
                <a:ea typeface="Pretendard Thin"/>
              </a:rPr>
              <a:t>등</a:t>
            </a:r>
            <a:r>
              <a:rPr lang="en-US" sz="3073" b="false" i="false" u="none" strike="noStrike">
                <a:solidFill>
                  <a:srgbClr val="FFFFFF"/>
                </a:solidFill>
                <a:latin typeface="Pretendard Thin"/>
              </a:rPr>
              <a:t>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29000" y="7962900"/>
            <a:ext cx="4508500" cy="939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실제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배치되는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방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 UI + </a:t>
            </a: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격자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(Grid)</a:t>
            </a:r>
          </a:p>
          <a:p>
            <a:pPr algn="ctr" lvl="0">
              <a:lnSpc>
                <a:spcPct val="116199"/>
              </a:lnSpc>
            </a:pP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드래그로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가구</a:t>
            </a:r>
            <a:r>
              <a:rPr lang="en-US" sz="2634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634" b="false" i="false" u="none" strike="noStrike">
                <a:solidFill>
                  <a:srgbClr val="000000"/>
                </a:solidFill>
                <a:ea typeface="Pretendard Thin"/>
              </a:rPr>
              <a:t>이동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4500" y="10007600"/>
            <a:ext cx="5092700" cy="1028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909" b="false" i="false" u="none" strike="noStrike">
                <a:solidFill>
                  <a:srgbClr val="FFFFFF"/>
                </a:solidFill>
                <a:ea typeface="Pretendard Thin"/>
              </a:rPr>
              <a:t>가구</a:t>
            </a:r>
            <a:r>
              <a:rPr lang="en-US" sz="2909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2909" b="false" i="false" u="none" strike="noStrike">
                <a:solidFill>
                  <a:srgbClr val="FFFFFF"/>
                </a:solidFill>
                <a:ea typeface="Pretendard Thin"/>
              </a:rPr>
              <a:t>요소</a:t>
            </a:r>
            <a:r>
              <a:rPr lang="en-US" sz="2909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2909" b="false" i="false" u="none" strike="noStrike">
                <a:solidFill>
                  <a:srgbClr val="FFFFFF"/>
                </a:solidFill>
                <a:ea typeface="Pretendard Thin"/>
              </a:rPr>
              <a:t>하나의</a:t>
            </a:r>
            <a:r>
              <a:rPr lang="en-US" sz="2909" b="false" i="false" u="none" strike="noStrike">
                <a:solidFill>
                  <a:srgbClr val="FFFFFF"/>
                </a:solidFill>
                <a:latin typeface="Pretendard Thin"/>
              </a:rPr>
              <a:t> </a:t>
            </a:r>
            <a:r>
              <a:rPr lang="ko-KR" sz="2909" b="false" i="false" u="none" strike="noStrike">
                <a:solidFill>
                  <a:srgbClr val="FFFFFF"/>
                </a:solidFill>
                <a:ea typeface="Pretendard Thin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en-US" sz="2909" b="false" i="false" u="none" strike="noStrike">
                <a:solidFill>
                  <a:srgbClr val="FFFFFF"/>
                </a:solidFill>
                <a:latin typeface="Pretendard Thin"/>
              </a:rPr>
              <a:t>useRef + react-draggable </a:t>
            </a:r>
            <a:r>
              <a:rPr lang="ko-KR" sz="2909" b="false" i="false" u="none" strike="noStrike">
                <a:solidFill>
                  <a:srgbClr val="FFFFFF"/>
                </a:solidFill>
                <a:ea typeface="Pretendard Thin"/>
              </a:rPr>
              <a:t>기반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31400" y="9194800"/>
            <a:ext cx="48768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선택된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가구의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속성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편집</a:t>
            </a:r>
          </a:p>
          <a:p>
            <a:pPr algn="ctr" lvl="0">
              <a:lnSpc>
                <a:spcPct val="116199"/>
              </a:lnSpc>
            </a:pP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회전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/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크기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/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색상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/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삭제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/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방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크기</a:t>
            </a:r>
            <a:r>
              <a:rPr lang="en-US" sz="2870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70" b="false" i="false" u="none" strike="noStrike">
                <a:solidFill>
                  <a:srgbClr val="000000"/>
                </a:solidFill>
                <a:ea typeface="Pretendard Thin"/>
              </a:rPr>
              <a:t>설정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81300" y="10185400"/>
            <a:ext cx="5283200" cy="533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기본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가구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사이즈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및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속성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미리</a:t>
            </a:r>
            <a:r>
              <a:rPr lang="en-US" sz="299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991" b="false" i="false" u="none" strike="noStrike">
                <a:solidFill>
                  <a:srgbClr val="000000"/>
                </a:solidFill>
                <a:ea typeface="Pretendard Thin"/>
              </a:rPr>
              <a:t>정의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86000" y="2921000"/>
            <a:ext cx="13093700" cy="279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48000" y="4025900"/>
            <a:ext cx="100076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616200" y="1257300"/>
            <a:ext cx="5384800" cy="10541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React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주요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기능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2400" y="1193800"/>
            <a:ext cx="1422400" cy="12954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1700" y="2984500"/>
            <a:ext cx="1739900" cy="520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14" b="false" i="false" u="none" strike="noStrike">
                <a:solidFill>
                  <a:srgbClr val="000000"/>
                </a:solidFill>
                <a:latin typeface="Pretendard Bold"/>
              </a:rPr>
              <a:t>useState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5500" y="3568700"/>
            <a:ext cx="8763000" cy="520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가구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선택된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가구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03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2903" b="false" i="false" u="none" strike="noStrike">
                <a:solidFill>
                  <a:srgbClr val="000000"/>
                </a:solidFill>
                <a:latin typeface="Pretendard Regular"/>
              </a:rPr>
              <a:t>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03600" y="4127500"/>
            <a:ext cx="9461500" cy="168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73" b="false" i="false" u="none" strike="noStrike">
                <a:solidFill>
                  <a:srgbClr val="000000"/>
                </a:solidFill>
                <a:latin typeface="Pretendard Regular"/>
              </a:rPr>
              <a:t>const [items, setItems] = useState([]);</a:t>
            </a:r>
          </a:p>
          <a:p>
            <a:pPr algn="l" lvl="0">
              <a:lnSpc>
                <a:spcPct val="116199"/>
              </a:lnSpc>
            </a:pPr>
            <a:r>
              <a:rPr lang="en" sz="2373" b="false" i="false" u="none" strike="noStrike">
                <a:solidFill>
                  <a:srgbClr val="000000"/>
                </a:solidFill>
                <a:latin typeface="Pretendard Regular"/>
              </a:rPr>
              <a:t>const [roomSize, setRoomSize] = useState({ width:500, height:500 });</a:t>
            </a:r>
          </a:p>
          <a:p>
            <a:pPr algn="l" lvl="0">
              <a:lnSpc>
                <a:spcPct val="116199"/>
              </a:lnSpc>
            </a:pPr>
            <a:r>
              <a:rPr lang="en" sz="2373" b="false" i="false" u="none" strike="noStrike">
                <a:solidFill>
                  <a:srgbClr val="000000"/>
                </a:solidFill>
                <a:latin typeface="Pretendard Regular"/>
              </a:rPr>
              <a:t>const [selectedId, setSelectedId] = useState(null);</a:t>
            </a:r>
          </a:p>
          <a:p>
            <a:pPr algn="l" lvl="0">
              <a:lnSpc>
                <a:spcPct val="116199"/>
              </a:lnSpc>
            </a:pPr>
            <a:r>
              <a:rPr lang="en" sz="2373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86000" y="6007100"/>
            <a:ext cx="13093700" cy="279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9042400"/>
            <a:ext cx="13093700" cy="2794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416300" y="6070600"/>
            <a:ext cx="1790700" cy="520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02" b="false" i="false" u="none" strike="noStrike">
                <a:solidFill>
                  <a:srgbClr val="000000"/>
                </a:solidFill>
                <a:latin typeface="Pretendard Bold"/>
              </a:rPr>
              <a:t>useEffect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02000" y="6604000"/>
            <a:ext cx="4064000" cy="469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가구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방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60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7" b="fals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09900" y="7124700"/>
            <a:ext cx="10617200" cy="1498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352800" y="7200900"/>
            <a:ext cx="10439400" cy="1600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251" b="false" i="false" u="none" strike="noStrike">
                <a:solidFill>
                  <a:srgbClr val="000000"/>
                </a:solidFill>
                <a:latin typeface="Pretendard Regular"/>
              </a:rPr>
              <a:t>useEffect(() =&gt; {</a:t>
            </a:r>
          </a:p>
          <a:p>
            <a:pPr algn="l" lvl="0">
              <a:lnSpc>
                <a:spcPct val="116199"/>
              </a:lnSpc>
            </a:pPr>
            <a:r>
              <a:rPr lang="en" sz="2251" b="false" i="false" u="none" strike="noStrike">
                <a:solidFill>
                  <a:srgbClr val="000000"/>
                </a:solidFill>
                <a:latin typeface="Pretendard Regular"/>
              </a:rPr>
              <a:t>   localStorage.setItem("roomLayout_v1", JSON.stringify({ roomSize, items }));</a:t>
            </a:r>
          </a:p>
          <a:p>
            <a:pPr algn="l" lvl="0">
              <a:lnSpc>
                <a:spcPct val="116199"/>
              </a:lnSpc>
            </a:pPr>
            <a:r>
              <a:rPr lang="en" sz="2251" b="false" i="false" u="none" strike="noStrike">
                <a:solidFill>
                  <a:srgbClr val="000000"/>
                </a:solidFill>
                <a:latin typeface="Pretendard Regular"/>
              </a:rPr>
              <a:t>}, [roomSize, items]);</a:t>
            </a:r>
          </a:p>
          <a:p>
            <a:pPr algn="l" lvl="0">
              <a:lnSpc>
                <a:spcPct val="116199"/>
              </a:lnSpc>
            </a:pPr>
            <a:r>
              <a:rPr lang="en" sz="2251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8200" y="9118600"/>
            <a:ext cx="12700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0" b="false" i="false" u="none" strike="noStrike">
                <a:solidFill>
                  <a:srgbClr val="000000"/>
                </a:solidFill>
                <a:latin typeface="Pretendard Bold"/>
              </a:rPr>
              <a:t>useRef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175000" y="10528300"/>
            <a:ext cx="7531100" cy="914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378200" y="9639300"/>
            <a:ext cx="6057900" cy="889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react-draggable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 findDOMNode 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오류</a:t>
            </a: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해결</a:t>
            </a:r>
          </a:p>
          <a:p>
            <a:pPr algn="l" lvl="0">
              <a:lnSpc>
                <a:spcPct val="116199"/>
              </a:lnSpc>
            </a:pP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React 18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필수</a:t>
            </a:r>
            <a:r>
              <a:rPr lang="en-US" sz="250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3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54400" y="10807700"/>
            <a:ext cx="4051300" cy="838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357" b="false" i="false" u="none" strike="noStrike">
                <a:solidFill>
                  <a:srgbClr val="000000"/>
                </a:solidFill>
                <a:latin typeface="Pretendard Regular"/>
              </a:rPr>
              <a:t>const nodeRef = useRef(null);</a:t>
            </a:r>
          </a:p>
          <a:p>
            <a:pPr algn="ctr" lvl="0">
              <a:lnSpc>
                <a:spcPct val="116199"/>
              </a:lnSpc>
            </a:pPr>
            <a:r>
              <a:rPr lang="en" sz="235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3556000"/>
            <a:ext cx="6134100" cy="3657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3556000"/>
            <a:ext cx="6134100" cy="365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18600" y="3556000"/>
            <a:ext cx="61341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67400" y="7594600"/>
            <a:ext cx="6134100" cy="3657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82500" y="7620000"/>
            <a:ext cx="6134100" cy="3657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616200" y="1257300"/>
            <a:ext cx="4025900" cy="10541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주요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기능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2400" y="1193800"/>
            <a:ext cx="1422400" cy="12954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6600" y="4140200"/>
            <a:ext cx="3009900" cy="6350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추가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1700" y="4140200"/>
            <a:ext cx="3568700" cy="6350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이동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94100" y="4140200"/>
            <a:ext cx="3568700" cy="6350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속성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편집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5100" y="8178800"/>
            <a:ext cx="3568700" cy="6350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방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크기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조절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8300" y="8178800"/>
            <a:ext cx="3568700" cy="6350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자동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저장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8800" y="4927600"/>
            <a:ext cx="5435600" cy="1511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Toolbar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에서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선택하면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즉시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방에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추가</a:t>
            </a:r>
          </a:p>
          <a:p>
            <a:pPr algn="l" lvl="0">
              <a:lnSpc>
                <a:spcPct val="116199"/>
              </a:lnSpc>
            </a:pP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기본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위치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(0,0)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에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생성</a:t>
            </a:r>
          </a:p>
          <a:p>
            <a:pPr algn="l" lvl="0">
              <a:lnSpc>
                <a:spcPct val="116199"/>
              </a:lnSpc>
            </a:pP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선택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상태로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자동</a:t>
            </a:r>
            <a:r>
              <a:rPr lang="en-US" sz="2833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33" b="false" i="false" u="none" strike="noStrike">
                <a:solidFill>
                  <a:srgbClr val="000000"/>
                </a:solidFill>
                <a:ea typeface="Pretendard Thin"/>
              </a:rPr>
              <a:t>전환됨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53600" y="4902200"/>
            <a:ext cx="4991100" cy="977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드래그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앤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드롭으로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자연스럽게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이동</a:t>
            </a:r>
          </a:p>
          <a:p>
            <a:pPr algn="l" lvl="0">
              <a:lnSpc>
                <a:spcPct val="116199"/>
              </a:lnSpc>
            </a:pP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이동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끝날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때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x,y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좌표</a:t>
            </a:r>
            <a:r>
              <a:rPr lang="en-US" sz="275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55" b="false" i="false" u="none" strike="noStrike">
                <a:solidFill>
                  <a:srgbClr val="000000"/>
                </a:solidFill>
                <a:ea typeface="Pretendard Thin"/>
              </a:rPr>
              <a:t>저장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17900" y="4699000"/>
            <a:ext cx="3441700" cy="2260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가구</a:t>
            </a: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선택</a:t>
            </a: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후</a:t>
            </a: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우측</a:t>
            </a: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패널에서</a:t>
            </a: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변경</a:t>
            </a:r>
          </a:p>
          <a:p>
            <a:pPr algn="l" lvl="0">
              <a:lnSpc>
                <a:spcPct val="116199"/>
              </a:lnSpc>
            </a:pPr>
            <a:r>
              <a:rPr lang="en" sz="2121" b="false" i="false" u="none" strike="noStrike">
                <a:solidFill>
                  <a:srgbClr val="000000"/>
                </a:solidFill>
                <a:latin typeface="Pretendard Thin"/>
              </a:rPr>
              <a:t>-width, height</a:t>
            </a:r>
          </a:p>
          <a:p>
            <a:pPr algn="l" lvl="0">
              <a:lnSpc>
                <a:spcPct val="116199"/>
              </a:lnSpc>
            </a:pPr>
            <a:r>
              <a:rPr lang="en" sz="2121" b="false" i="false" u="none" strike="noStrike">
                <a:solidFill>
                  <a:srgbClr val="000000"/>
                </a:solidFill>
                <a:latin typeface="Pretendard Thin"/>
              </a:rPr>
              <a:t>-color</a:t>
            </a:r>
          </a:p>
          <a:p>
            <a:pPr algn="l" lvl="0">
              <a:lnSpc>
                <a:spcPct val="116199"/>
              </a:lnSpc>
            </a:pPr>
            <a:r>
              <a:rPr lang="en" sz="2121" b="false" i="false" u="none" strike="noStrike">
                <a:solidFill>
                  <a:srgbClr val="000000"/>
                </a:solidFill>
                <a:latin typeface="Pretendard Thin"/>
              </a:rPr>
              <a:t>-rotation</a:t>
            </a:r>
          </a:p>
          <a:p>
            <a:pPr algn="l" lvl="0">
              <a:lnSpc>
                <a:spcPct val="116199"/>
              </a:lnSpc>
            </a:pP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-name 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변경</a:t>
            </a:r>
          </a:p>
          <a:p>
            <a:pPr algn="l" lvl="0">
              <a:lnSpc>
                <a:spcPct val="116199"/>
              </a:lnSpc>
            </a:pPr>
            <a:r>
              <a:rPr lang="en-US" sz="2121" b="false" i="false" u="none" strike="noStrike">
                <a:solidFill>
                  <a:srgbClr val="000000"/>
                </a:solidFill>
                <a:latin typeface="Pretendard Thin"/>
              </a:rPr>
              <a:t>-</a:t>
            </a:r>
            <a:r>
              <a:rPr lang="ko-KR" sz="2121" b="false" i="false" u="none" strike="noStrike">
                <a:solidFill>
                  <a:srgbClr val="000000"/>
                </a:solidFill>
                <a:ea typeface="Pretendard Thin"/>
              </a:rPr>
              <a:t>삭제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6500" y="9004300"/>
            <a:ext cx="5207000" cy="977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width / height </a:t>
            </a: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입력으로</a:t>
            </a: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실시간</a:t>
            </a: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변경</a:t>
            </a:r>
          </a:p>
          <a:p>
            <a:pPr algn="l" lvl="0">
              <a:lnSpc>
                <a:spcPct val="116199"/>
              </a:lnSpc>
            </a:pP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격자가</a:t>
            </a: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따라</a:t>
            </a: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739" b="false" i="false" u="none" strike="noStrike">
                <a:solidFill>
                  <a:srgbClr val="000000"/>
                </a:solidFill>
                <a:ea typeface="Pretendard Thin"/>
              </a:rPr>
              <a:t>확장되는</a:t>
            </a:r>
            <a:r>
              <a:rPr lang="en-US" sz="2739" b="false" i="false" u="none" strike="noStrike">
                <a:solidFill>
                  <a:srgbClr val="000000"/>
                </a:solidFill>
                <a:latin typeface="Pretendard Thin"/>
              </a:rPr>
              <a:t> UI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77800" y="8839200"/>
            <a:ext cx="5283200" cy="508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새로고침</a:t>
            </a:r>
            <a:r>
              <a:rPr lang="en-US" sz="2865" b="false" i="false" u="none" strike="noStrike">
                <a:solidFill>
                  <a:srgbClr val="000000"/>
                </a:solidFill>
                <a:latin typeface="Pretendard Thin"/>
              </a:rPr>
              <a:t>·</a:t>
            </a: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종료</a:t>
            </a:r>
            <a:r>
              <a:rPr lang="en-US" sz="286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후에도</a:t>
            </a:r>
            <a:r>
              <a:rPr lang="en-US" sz="286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최근</a:t>
            </a:r>
            <a:r>
              <a:rPr lang="en-US" sz="286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상태</a:t>
            </a:r>
            <a:r>
              <a:rPr lang="en-US" sz="2865" b="false" i="false" u="none" strike="noStrike">
                <a:solidFill>
                  <a:srgbClr val="000000"/>
                </a:solidFill>
                <a:latin typeface="Pretendard Thin"/>
              </a:rPr>
              <a:t> </a:t>
            </a:r>
            <a:r>
              <a:rPr lang="ko-KR" sz="2865" b="false" i="false" u="none" strike="noStrike">
                <a:solidFill>
                  <a:srgbClr val="000000"/>
                </a:solidFill>
                <a:ea typeface="Pretendard Thin"/>
              </a:rPr>
              <a:t>유지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50600" y="10363200"/>
            <a:ext cx="381000" cy="38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760200" y="10375900"/>
            <a:ext cx="1955800" cy="431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400" b="false" i="false" u="none" strike="noStrike" spc="768">
                <a:solidFill>
                  <a:srgbClr val="FFFFFF"/>
                </a:solidFill>
                <a:latin typeface="Anek Tamil Expanded SemiBold"/>
              </a:rPr>
              <a:t>MiriAD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16200" y="1257300"/>
            <a:ext cx="5384800" cy="11938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상태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관리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2400" y="1193800"/>
            <a:ext cx="1422400" cy="16256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9300" y="3327400"/>
            <a:ext cx="4191000" cy="787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4400" b="false" i="false" u="none" strike="noStrike" spc="-132">
                <a:solidFill>
                  <a:srgbClr val="1A1A1A"/>
                </a:solidFill>
                <a:ea typeface="Pretendard ExtraBold"/>
              </a:rPr>
              <a:t>사용한</a:t>
            </a:r>
            <a:r>
              <a:rPr lang="en-US" sz="4400" b="false" i="false" u="none" strike="noStrike" spc="-132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4400" b="false" i="false" u="none" strike="noStrike" spc="-132">
                <a:solidFill>
                  <a:srgbClr val="1A1A1A"/>
                </a:solidFill>
                <a:ea typeface="Pretendard ExtraBold"/>
              </a:rPr>
              <a:t>상태들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9300" y="6959600"/>
            <a:ext cx="14922500" cy="3632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왜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중요한가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?
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가구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추가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/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삭제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/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이동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/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회전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/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크기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변경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→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모두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state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변경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
state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바뀌면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RoomCanvas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바로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새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UI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를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그림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
React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DOM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을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직접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수정하지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않고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,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상태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기반으로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화면을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관리하므로</a:t>
            </a:r>
            <a:b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</a:b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버그가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적고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UI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가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 </a:t>
            </a:r>
            <a:r>
              <a:rPr lang="ko-KR" sz="2400" b="false" i="false" u="none" strike="noStrike" spc="-48">
                <a:solidFill>
                  <a:srgbClr val="1A1A1A"/>
                </a:solidFill>
                <a:ea typeface="Pretendard Medium"/>
              </a:rPr>
              <a:t>안정적이다</a:t>
            </a:r>
            <a:r>
              <a:rPr lang="en-US" sz="2400" b="false" i="false" u="none" strike="noStrike" spc="-48">
                <a:solidFill>
                  <a:srgbClr val="1A1A1A"/>
                </a:solidFill>
                <a:latin typeface="Pretendard Medium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" y="4102100"/>
            <a:ext cx="12039600" cy="257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324100" y="4673600"/>
            <a:ext cx="12230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666" b="false" i="false" u="none" strike="noStrike" spc="-53">
                <a:solidFill>
                  <a:srgbClr val="1A1A1A"/>
                </a:solidFill>
                <a:latin typeface="Pretendard SemiBold"/>
              </a:rPr>
              <a:t>const [items, setItems] = useState([]);
const [roomSize, setRoomSize] = useState({ width: 500, height: 500 });
const [selectedId, setSelectedId] = useState(null);
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16200" y="1257300"/>
            <a:ext cx="5245100" cy="9525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UI/UX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설계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포인트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1193800"/>
            <a:ext cx="1422400" cy="10668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06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3982700" y="3035300"/>
            <a:ext cx="4584700" cy="4584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500100" y="4457700"/>
            <a:ext cx="5435600" cy="1739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일관된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디자인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시스템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카드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버튼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입력창에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동일한</a:t>
            </a:r>
          </a:p>
          <a:p>
            <a:pPr algn="ctr" lvl="0">
              <a:lnSpc>
                <a:spcPct val="116199"/>
              </a:lnSpc>
            </a:pP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 radius·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색상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·shadow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적용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전체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UI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가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통일되어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사용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혼란</a:t>
            </a:r>
            <a:r>
              <a:rPr lang="en-US" sz="195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51" b="false" i="false" u="none" strike="noStrike">
                <a:solidFill>
                  <a:srgbClr val="000000"/>
                </a:solidFill>
                <a:ea typeface="Pretendard Bold"/>
              </a:rPr>
              <a:t>감소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4660900" y="2933700"/>
            <a:ext cx="4660900" cy="466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9321800" y="2933700"/>
            <a:ext cx="4660900" cy="4660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1557000" y="6858000"/>
            <a:ext cx="46609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6896100" y="6858000"/>
            <a:ext cx="4660900" cy="4660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153400" y="4000500"/>
            <a:ext cx="69977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즉각적인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사용자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피드백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테두리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그림자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강조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드래그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cursor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변경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속성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변경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실시간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반영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→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수정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결과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즉시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확인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가능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80200" y="7886700"/>
            <a:ext cx="5080000" cy="246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사고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방지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UX
-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선택된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가구만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수정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가능하도록</a:t>
            </a:r>
          </a:p>
          <a:p>
            <a:pPr algn="ctr" lvl="0">
              <a:lnSpc>
                <a:spcPct val="116199"/>
              </a:lnSpc>
            </a:pP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제한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(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오작동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방지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)
-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크기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위치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숫자로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직접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확인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가능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처음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사용하는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사용자도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쉽게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이해하도록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단순한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인터페이스</a:t>
            </a:r>
            <a:r>
              <a:rPr lang="en-US" sz="197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979" b="false" i="false" u="none" strike="noStrike">
                <a:solidFill>
                  <a:srgbClr val="000000"/>
                </a:solidFill>
                <a:ea typeface="Pretendard Bold"/>
              </a:rPr>
              <a:t>적용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65600" y="4102100"/>
            <a:ext cx="5638800" cy="2489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직관적인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화면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구성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상단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: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추가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툴바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좌측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: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방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캔버스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우측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: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선택된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속성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패널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사용자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동선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최소화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→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→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조절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→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흐름이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자연스럽게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연결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8300" y="8039100"/>
            <a:ext cx="6718300" cy="2311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반응형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(Responsive)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구성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
-900px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이하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화면에서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패널이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세로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재배치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
-PC·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노트북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·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태블릿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모두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동일한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UX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유지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3556000"/>
            <a:ext cx="8128000" cy="3657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80900" y="7594600"/>
            <a:ext cx="9969500" cy="365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7594600"/>
            <a:ext cx="93853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214100" y="3556000"/>
            <a:ext cx="11036300" cy="365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616200" y="1257300"/>
            <a:ext cx="4025900" cy="10541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주요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코드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요약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1193800"/>
            <a:ext cx="1422400" cy="13081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76600" y="4140200"/>
            <a:ext cx="45339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1) Toolbar: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추가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38100" y="7912100"/>
            <a:ext cx="63246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2) RoomCanvas: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드래그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기반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배치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76600" y="8280400"/>
            <a:ext cx="59182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3) PropertyPanel: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실시간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속성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변경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57000" y="4140200"/>
            <a:ext cx="64262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4)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자동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저장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(LocalStorage)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4000" y="8953500"/>
            <a:ext cx="105791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74" b="false" i="false" u="none" strike="noStrike">
                <a:solidFill>
                  <a:srgbClr val="000000"/>
                </a:solidFill>
                <a:latin typeface="Pretendard Thin"/>
              </a:rPr>
              <a:t>&lt;Draggable onStop={(e, data) =&gt; onMove(item.id, data.x, data.y)}&gt;
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17900" y="9093200"/>
            <a:ext cx="7797800" cy="1460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739" b="false" i="false" u="none" strike="noStrike">
                <a:solidFill>
                  <a:srgbClr val="000000"/>
                </a:solidFill>
                <a:latin typeface="Pretendard Thin"/>
              </a:rPr>
              <a:t>const handleChange = (field, value) =&gt; {
  onChange(item.id, { [field]: value });
};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7000" y="4914900"/>
            <a:ext cx="11557000" cy="137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570" b="false" i="false" u="none" strike="noStrike">
                <a:solidFill>
                  <a:srgbClr val="000000"/>
                </a:solidFill>
                <a:latin typeface="Pretendard Thin"/>
              </a:rPr>
              <a:t>useEffect(() =&gt; {
  localStorage.setItem("roomLayout_v1", JSON.stringify({ roomSize, items }));
}, [roomSize, items]);
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17900" y="4914900"/>
            <a:ext cx="7327900" cy="2489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795" b="false" i="false" u="none" strike="noStrike">
                <a:solidFill>
                  <a:srgbClr val="000000"/>
                </a:solidFill>
                <a:latin typeface="Pretendard Regular"/>
              </a:rPr>
              <a:t>const handleAdd = (item) =&gt; {</a:t>
            </a:r>
          </a:p>
          <a:p>
            <a:pPr algn="l" lvl="0">
              <a:lnSpc>
                <a:spcPct val="116199"/>
              </a:lnSpc>
            </a:pPr>
            <a:r>
              <a:rPr lang="en" sz="2795" b="false" i="false" u="none" strike="noStrike">
                <a:solidFill>
                  <a:srgbClr val="000000"/>
                </a:solidFill>
                <a:latin typeface="Pretendard Regular"/>
              </a:rPr>
              <a:t>  setItems((prev) =&gt; [...prev, item]);</a:t>
            </a:r>
          </a:p>
          <a:p>
            <a:pPr algn="l" lvl="0">
              <a:lnSpc>
                <a:spcPct val="116199"/>
              </a:lnSpc>
            </a:pPr>
            <a:r>
              <a:rPr lang="en" sz="2795" b="false" i="false" u="none" strike="noStrike">
                <a:solidFill>
                  <a:srgbClr val="000000"/>
                </a:solidFill>
                <a:latin typeface="Pretendard Regular"/>
              </a:rPr>
              <a:t>  setSelectedId(item.id);</a:t>
            </a:r>
          </a:p>
          <a:p>
            <a:pPr algn="l" lvl="0">
              <a:lnSpc>
                <a:spcPct val="116199"/>
              </a:lnSpc>
            </a:pPr>
            <a:r>
              <a:rPr lang="en" sz="2795" b="false" i="false" u="none" strike="noStrike">
                <a:solidFill>
                  <a:srgbClr val="000000"/>
                </a:solidFill>
                <a:latin typeface="Pretendard Regular"/>
              </a:rPr>
              <a:t>};</a:t>
            </a:r>
          </a:p>
          <a:p>
            <a:pPr algn="l" lvl="0">
              <a:lnSpc>
                <a:spcPct val="116199"/>
              </a:lnSpc>
            </a:pPr>
            <a:r>
              <a:rPr lang="en" sz="2795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3556000"/>
            <a:ext cx="8128000" cy="3657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80900" y="7594600"/>
            <a:ext cx="9969500" cy="365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7594600"/>
            <a:ext cx="93853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214100" y="3556000"/>
            <a:ext cx="11036300" cy="365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616200" y="1257300"/>
            <a:ext cx="5486400" cy="9525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기술적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특징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요약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1193800"/>
            <a:ext cx="1422400" cy="13081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76600" y="4140200"/>
            <a:ext cx="6286500" cy="23114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컴포넌트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기반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구조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
Toolbar / RoomCanvas / PropertyPanel / FurnitureItem
→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역할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분리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,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유지보수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편리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12700" y="8280400"/>
            <a:ext cx="6324600" cy="1981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재사용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가능한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구성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
createFurniture()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템플릿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통일</a:t>
            </a:r>
            <a:b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</a:b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가구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종류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추가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최소한의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코드만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필요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76600" y="8280400"/>
            <a:ext cx="7150100" cy="1981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즉각적인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렌더링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최적화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
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선택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상태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변경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필요한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부분만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리렌더링</a:t>
            </a:r>
            <a:b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</a:b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상태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덩어리가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작아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성능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우수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23700" y="3987800"/>
            <a:ext cx="6426200" cy="2870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상태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중심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설계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
App.jsx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에서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모든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핵심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상태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 </a:t>
            </a:r>
            <a:r>
              <a:rPr lang="ko-KR" sz="2933" b="false" i="false" u="none" strike="noStrike" spc="-59">
                <a:solidFill>
                  <a:srgbClr val="1A1A1A"/>
                </a:solidFill>
                <a:ea typeface="Pretendard Bold"/>
              </a:rPr>
              <a:t>관리</a:t>
            </a:r>
            <a:r>
              <a:rPr lang="en-US" sz="2933" b="false" i="false" u="none" strike="noStrike" spc="-59">
                <a:solidFill>
                  <a:srgbClr val="1A1A1A"/>
                </a:solidFill>
                <a:latin typeface="Pretendard Bold"/>
              </a:rPr>
              <a:t>
 -roomSize
 -items
 -selectedId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0500" y="2514600"/>
            <a:ext cx="21475700" cy="9677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16200" y="1257300"/>
            <a:ext cx="3517900" cy="9525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107899"/>
              </a:lnSpc>
            </a:pP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결론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및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5333" b="false" i="false" u="none" strike="noStrike" spc="-160">
                <a:solidFill>
                  <a:srgbClr val="1A1A1A"/>
                </a:solidFill>
                <a:ea typeface="Pretendard ExtraBold"/>
              </a:rPr>
              <a:t>제안</a:t>
            </a:r>
            <a:r>
              <a:rPr lang="en-US" sz="5333" b="false" i="false" u="none" strike="noStrike" spc="-160">
                <a:solidFill>
                  <a:srgbClr val="1A1A1A"/>
                </a:solidFill>
                <a:latin typeface="Pretendard ExtraBold"/>
              </a:rPr>
              <a:t>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1193800"/>
            <a:ext cx="1422400" cy="13081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9600"/>
              </a:lnSpc>
            </a:pPr>
            <a:r>
              <a:rPr lang="en" sz="6000" b="false" i="false" u="none" strike="noStrike" spc="-120">
                <a:solidFill>
                  <a:srgbClr val="509BF8"/>
                </a:solidFill>
                <a:latin typeface="Poppins Bold"/>
              </a:rPr>
              <a:t>09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3982700" y="3035300"/>
            <a:ext cx="4584700" cy="4584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220700" y="4559300"/>
            <a:ext cx="6007100" cy="1536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실수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방지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UX</a:t>
            </a:r>
          </a:p>
          <a:p>
            <a:pPr algn="ctr" lvl="0">
              <a:lnSpc>
                <a:spcPct val="116199"/>
              </a:lnSpc>
            </a:pPr>
            <a:r>
              <a:rPr lang="en" sz="2153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선택된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가구만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수정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가능</a:t>
            </a:r>
            <a:b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</a:b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숫자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기반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조작으로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정확도</a:t>
            </a:r>
            <a:r>
              <a:rPr lang="en-US" sz="215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53" b="false" i="false" u="none" strike="noStrike">
                <a:solidFill>
                  <a:srgbClr val="000000"/>
                </a:solidFill>
                <a:ea typeface="Pretendard Bold"/>
              </a:rPr>
              <a:t>향상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4660900" y="2933700"/>
            <a:ext cx="4660900" cy="466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9321800" y="2933700"/>
            <a:ext cx="4660900" cy="4660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1645900" y="6731000"/>
            <a:ext cx="46609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6985000" y="6731000"/>
            <a:ext cx="4660900" cy="4660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087100" y="7759700"/>
            <a:ext cx="5803900" cy="2235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확장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가능성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가구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종류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추가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용이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방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크기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설정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→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다양한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공간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모델링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가능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
-Firebase,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사용자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계정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다중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저장소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추가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확장</a:t>
            </a:r>
            <a:r>
              <a:rPr lang="en-US" sz="209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94" b="false" i="false" u="none" strike="noStrike">
                <a:solidFill>
                  <a:srgbClr val="000000"/>
                </a:solidFill>
                <a:ea typeface="Pretendard Bold"/>
              </a:rPr>
              <a:t>가능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3400" y="4470400"/>
            <a:ext cx="6997700" cy="1587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자연스러운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저장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경험</a:t>
            </a:r>
          </a:p>
          <a:p>
            <a:pPr algn="ctr" lvl="0">
              <a:lnSpc>
                <a:spcPct val="116199"/>
              </a:lnSpc>
            </a:pPr>
            <a:r>
              <a:rPr lang="en" sz="2231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LocalStorage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자동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저장</a:t>
            </a:r>
            <a:b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</a:b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재접속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이전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작업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상태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그대로</a:t>
            </a:r>
            <a:r>
              <a:rPr lang="en-US" sz="223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231" b="false" i="false" u="none" strike="noStrike">
                <a:solidFill>
                  <a:srgbClr val="000000"/>
                </a:solidFill>
                <a:ea typeface="Pretendard Bold"/>
              </a:rPr>
              <a:t>복원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65600" y="4254500"/>
            <a:ext cx="5638800" cy="2133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직관적인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화면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구성</a:t>
            </a:r>
          </a:p>
          <a:p>
            <a:pPr algn="ctr" lvl="0">
              <a:lnSpc>
                <a:spcPct val="116199"/>
              </a:lnSpc>
            </a:pPr>
            <a:r>
              <a:rPr lang="en" sz="2004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사용자의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자연스러운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행동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흐름에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맞춘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화면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
-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수정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과정에서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시각적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피드백</a:t>
            </a:r>
            <a:r>
              <a:rPr lang="en-US" sz="2004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004" b="false" i="false" u="none" strike="noStrike">
                <a:solidFill>
                  <a:srgbClr val="000000"/>
                </a:solidFill>
                <a:ea typeface="Pretendard Bold"/>
              </a:rPr>
              <a:t>제공치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56300" y="8102600"/>
            <a:ext cx="6718300" cy="1536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사용자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경험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향상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
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드래그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앤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드롭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기반의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직관적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조작</a:t>
            </a:r>
            <a:b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</a:b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즉각적인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속성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변경</a:t>
            </a:r>
            <a:r>
              <a:rPr lang="en-US" sz="2167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67" b="false" i="false" u="none" strike="noStrike">
                <a:solidFill>
                  <a:srgbClr val="000000"/>
                </a:solidFill>
                <a:ea typeface="Pretendard Bold"/>
              </a:rPr>
              <a:t>반영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r:id=""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>
                  <p14:trim st="0"/>
                </p14:media>
              </p:ext>
            </p:extLst>
          </p:nvPr>
        </p:nvPicPr>
        <p:blipFill>
          <a:blip r:embed="rId2"/>
          <a:stretch>
            <a:fillRect/>
          </a:stretch>
        </p:blipFill>
        <p:spPr>
          <a:xfrm rot="0">
            <a:off x="1358900" y="3429000"/>
            <a:ext cx="21666200" cy="939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58900" y="1155700"/>
            <a:ext cx="5346700" cy="1257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7073" b="false" i="false" u="none" strike="noStrike">
                <a:solidFill>
                  <a:srgbClr val="000000"/>
                </a:solidFill>
                <a:ea typeface="Pretendard Bold"/>
              </a:rPr>
              <a:t>실제</a:t>
            </a: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false" i="false" u="none" strike="noStrike">
                <a:solidFill>
                  <a:srgbClr val="000000"/>
                </a:solidFill>
                <a:ea typeface="Pretendard Bold"/>
              </a:rPr>
              <a:t>동작</a:t>
            </a: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false" i="false" u="none" strike="noStrike">
                <a:solidFill>
                  <a:srgbClr val="000000"/>
                </a:solidFill>
                <a:ea typeface="Pretendard Bold"/>
              </a:rPr>
              <a:t>시연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